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Helvetica"/>
              </a:rPr>
              <a:t>BOOKLETS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0F172A"/>
                </a:solidFill>
                <a:latin typeface="Helvetica"/>
              </a:rPr>
              <a:t>A guided tour for the bookkeeper &amp; accountant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Helvetica"/>
              </a:rPr>
              <a:t>BookLets is the in-house accounting and operations system for the Ko Lake short-term-rental portfolio. This deck walks through each screen, what you'll use it for, and the accounting policies the system enforces.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9377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475569"/>
                </a:solidFill>
                <a:latin typeface="Helvetica"/>
              </a:rPr>
              <a:t>Audience:  Bookkeeper, accountant, external reviewer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475569"/>
                </a:solidFill>
                <a:latin typeface="Helvetica"/>
              </a:rPr>
              <a:t>Currency:  Books in LKR, reporting in USD (month-close FX)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475569"/>
                </a:solidFill>
                <a:latin typeface="Helvetica"/>
              </a:rPr>
              <a:t>Framework:  SLFRS (Sri Lanka Financial Reporting Standards)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Helvetica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Helvetica"/>
              </a:rPr>
              <a:t>What's in this pack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290945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475569"/>
                          </a:solidFill>
                          <a:latin typeface="Helvetica"/>
                        </a:rPr>
                        <a:t>SECTION</a:t>
                      </a:r>
                    </a:p>
                  </a:txBody>
                  <a:tcPr marL="100000" marR="100000" marT="60000" marB="6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475569"/>
                          </a:solidFill>
                          <a:latin typeface="Helvetica"/>
                        </a:rPr>
                        <a:t>PAGE</a:t>
                      </a:r>
                    </a:p>
                  </a:txBody>
                  <a:tcPr marL="100000" marR="100000" marT="60000" marB="60000">
                    <a:solidFill>
                      <a:srgbClr val="F8FAFC"/>
                    </a:solidFill>
                  </a:tcPr>
                </a:tc>
              </a:tr>
              <a:tr h="290945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1. What BookLets is for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2. The monthly workflow at a glance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3. Sign-in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4. Dashboard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6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5. Properties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6. Bookings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8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7. General Ledger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9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8. Imports — spreadsheet uploader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10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9. Chart of accounts &amp; policies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11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29095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10. Roadmap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12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95360" y="1645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Helvetica"/>
              </a:rPr>
              <a:t>STATUS LEGEND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0" y="2057400"/>
            <a:ext cx="822960" cy="25603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166534"/>
                </a:solidFill>
                <a:latin typeface="Helvetica"/>
              </a:rPr>
              <a:t>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20756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Helvetica"/>
              </a:rPr>
              <a:t>Available in production now.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2514600"/>
            <a:ext cx="822960" cy="256032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B45309"/>
                </a:solidFill>
                <a:latin typeface="Helvetica"/>
              </a:rPr>
              <a:t>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5480" y="25328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Helvetica"/>
              </a:rPr>
              <a:t>Read-only; posting comes later.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2971800"/>
            <a:ext cx="822960" cy="256032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B91C1C"/>
                </a:solidFill>
                <a:latin typeface="Helvetica"/>
              </a:rPr>
              <a:t>PLANNED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29900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Helvetica"/>
              </a:rPr>
              <a:t>Designed, not yet built.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Helvetica"/>
              </a:rP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Helvetica"/>
              </a:rPr>
              <a:t>What BookLets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Helvetica"/>
              </a:rPr>
              <a:t>A single place to record income and expenses, attribute revenue to the correct month, produce a clean general ledger, and hand monthly numbers to the accountant for QuickBooks Online.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534924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00000" bIns="100000"/>
          <a:lstStyle/>
          <a:p>
            <a:pPr algn="ctr"/>
            <a:r>
              <a:rPr b="1" sz="1400">
                <a:solidFill>
                  <a:srgbClr val="0F172A"/>
                </a:solidFill>
                <a:latin typeface="Helvetica"/>
              </a:rPr>
              <a:t>Replaces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475569"/>
                </a:solidFill>
                <a:latin typeface="Helvetica"/>
              </a:rPr>
              <a:t>Loose spreadsheets for petty-cash analysis; manual re-keying of monthly totals; ad-hoc reconciliation between operator and accountant.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743200"/>
            <a:ext cx="534924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00000" bIns="100000"/>
          <a:lstStyle/>
          <a:p>
            <a:pPr algn="ctr"/>
            <a:r>
              <a:rPr b="1" sz="1400">
                <a:solidFill>
                  <a:srgbClr val="0F172A"/>
                </a:solidFill>
                <a:latin typeface="Helvetica"/>
              </a:rPr>
              <a:t>Feeds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475569"/>
                </a:solidFill>
                <a:latin typeface="Helvetica"/>
              </a:rPr>
              <a:t>QuickBooks Online via CSV export. BookLets is the source of truth; QBO is the filing surface.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343400"/>
            <a:ext cx="534924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00000" bIns="100000"/>
          <a:lstStyle/>
          <a:p>
            <a:pPr algn="ctr"/>
            <a:r>
              <a:rPr b="1" sz="1400">
                <a:solidFill>
                  <a:srgbClr val="0F172A"/>
                </a:solidFill>
                <a:latin typeface="Helvetica"/>
              </a:rPr>
              <a:t>Books in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475569"/>
                </a:solidFill>
                <a:latin typeface="Helvetica"/>
              </a:rPr>
              <a:t>LKR (Sri Lankan rupees). Every transaction recorded in LKR exactly as it happened.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4343400"/>
            <a:ext cx="534924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00000" bIns="100000"/>
          <a:lstStyle/>
          <a:p>
            <a:pPr algn="ctr"/>
            <a:r>
              <a:rPr b="1" sz="1400">
                <a:solidFill>
                  <a:srgbClr val="0F172A"/>
                </a:solidFill>
                <a:latin typeface="Helvetica"/>
              </a:rPr>
              <a:t>Reports in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475569"/>
                </a:solidFill>
                <a:latin typeface="Helvetica"/>
              </a:rPr>
              <a:t>USD using the spot FX rate on the day the month is closed (preferred: monthly average if a daily feed is available).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897880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5897880"/>
            <a:ext cx="10899648" cy="7772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20000" bIns="120000"/>
          <a:lstStyle/>
          <a:p>
            <a:pPr algn="ctr">
              <a:lnSpc>
                <a:spcPct val="125000"/>
              </a:lnSpc>
            </a:pPr>
            <a:r>
              <a:rPr sz="1100">
                <a:solidFill>
                  <a:srgbClr val="0F172A"/>
                </a:solidFill>
                <a:latin typeface="Helvetica"/>
              </a:rPr>
              <a:t>Golden rule — When a guest's stay crosses a month boundary, the entire stay revenue is booked to the CHECK-OUT month. No day-by-day apportionment. Refund risk effectively closes on check-out.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Helvetica"/>
              </a:rP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Helvetica"/>
              </a:rPr>
              <a:t>The monthly workflow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475569"/>
                          </a:solidFill>
                          <a:latin typeface="Helvetica"/>
                        </a:rPr>
                        <a:t>#</a:t>
                      </a:r>
                    </a:p>
                  </a:txBody>
                  <a:tcPr marL="100000" marR="100000" marT="60000" marB="6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475569"/>
                          </a:solidFill>
                          <a:latin typeface="Helvetica"/>
                        </a:rPr>
                        <a:t>STEP</a:t>
                      </a:r>
                    </a:p>
                  </a:txBody>
                  <a:tcPr marL="100000" marR="100000" marT="60000" marB="6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475569"/>
                          </a:solidFill>
                          <a:latin typeface="Helvetica"/>
                        </a:rPr>
                        <a:t>WHERE IN BOOKLETS</a:t>
                      </a:r>
                    </a:p>
                  </a:txBody>
                  <a:tcPr marL="100000" marR="100000" marT="60000" marB="6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475569"/>
                          </a:solidFill>
                          <a:latin typeface="Helvetica"/>
                        </a:rPr>
                        <a:t>OWNER</a:t>
                      </a:r>
                    </a:p>
                  </a:txBody>
                  <a:tcPr marL="100000" marR="100000" marT="60000" marB="60000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Record petty-cash and operating expenses on the monthly workbook (Income &amp; Petty Cash Analysis).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External spreadsheet (today)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Villa captain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At month end, upload the workbook. BookLets parses every row and shows a preview.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/imports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Bookkeeper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Review the preview: per-section totals, unmapped columns, rows flagged with warnings.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/imports preview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Bookkeeper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Confirm &amp; post. BookLets writes balanced double-entry journals. Idempotent on re-upload.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/imports (P2 — next)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Bookkeeper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Reconcile to bank. Match cleared transactions; queue exceptions.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/reconcile (P4)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Bookkeeper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6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Run FX revaluation at month close (LKR → USD).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Month-close (P5)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Accountant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Export ledger CSV and import into QuickBooks Online.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Export CSV button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Accountant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Helvetica"/>
              </a:rPr>
              <a:t>SCREEN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Helvetica"/>
              </a:rPr>
              <a:t>Sign-in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960120"/>
            <a:ext cx="822960" cy="25603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166534"/>
                </a:solidFill>
                <a:latin typeface="Helvetica"/>
              </a:rPr>
              <a:t>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Helvetica"/>
              </a:rPr>
              <a:t>Access is by Google account only, and only emails on the allow-list can sign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Helvetica"/>
              </a:rPr>
              <a:t>WHAT YOU'LL SEE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475569"/>
                </a:solidFill>
                <a:latin typeface="Helvetica"/>
              </a:rPr>
              <a:t>• A centred card with the BookLets brand, a 'Sign in' heading, and one 'Continue with Google' button.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475569"/>
                </a:solidFill>
                <a:latin typeface="Helvetica"/>
              </a:rPr>
              <a:t>• Clear error messages if your email is not on the allow-list, or if the system is misconfigured.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Helvetica"/>
              </a:rPr>
              <a:t>WHAT YOU NEED TO 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4340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475569"/>
                </a:solidFill>
                <a:latin typeface="Helvetica"/>
              </a:rPr>
              <a:t>1.  Send your Google address to the operator.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475569"/>
                </a:solidFill>
                <a:latin typeface="Helvetica"/>
              </a:rPr>
              <a:t>2.  They add it to the allow-list.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475569"/>
                </a:solidFill>
                <a:latin typeface="Helvetica"/>
              </a:rPr>
              <a:t>3.  Visit the site, click 'Continue with Google', and you'll land on the Dashboard.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669280"/>
            <a:ext cx="73152" cy="868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5669280"/>
            <a:ext cx="10899648" cy="8686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20000" bIns="120000"/>
          <a:lstStyle/>
          <a:p>
            <a:pPr algn="ctr">
              <a:lnSpc>
                <a:spcPct val="125000"/>
              </a:lnSpc>
            </a:pPr>
            <a:r>
              <a:rPr sz="1100">
                <a:solidFill>
                  <a:srgbClr val="0F172A"/>
                </a:solidFill>
                <a:latin typeface="Helvetica"/>
              </a:rPr>
              <a:t>Security note — If the allow-list is accidentally cleared, sign-in fails for everyone (fail-closed). Deliberate: the operator would rather lock themselves out than admit an unauthorised account into the books.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Helvetica"/>
              </a:rPr>
              <a:t>SCREEN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Helvetica"/>
              </a:rPr>
              <a:t>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0" y="960120"/>
            <a:ext cx="822960" cy="25603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166534"/>
                </a:solidFill>
                <a:latin typeface="Helvetica"/>
              </a:rPr>
              <a:t>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Helvetica"/>
              </a:rPr>
              <a:t>First screen after sign-in. One-glance view of how the portfolio is performing this month and year-to-date.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260604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00000" bIns="100000"/>
          <a:lstStyle/>
          <a:p>
            <a:pPr algn="ctr"/>
            <a:r>
              <a:rPr b="1" sz="1400">
                <a:solidFill>
                  <a:srgbClr val="0F172A"/>
                </a:solidFill>
                <a:latin typeface="Helvetica"/>
              </a:rPr>
              <a:t>Total Revenue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475569"/>
                </a:solidFill>
                <a:latin typeface="Helvetica"/>
              </a:rPr>
              <a:t>Month-to-date gross income recognised in the ledger.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468880"/>
            <a:ext cx="260604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00000" bIns="100000"/>
          <a:lstStyle/>
          <a:p>
            <a:pPr algn="ctr"/>
            <a:r>
              <a:rPr b="1" sz="1400">
                <a:solidFill>
                  <a:srgbClr val="0F172A"/>
                </a:solidFill>
                <a:latin typeface="Helvetica"/>
              </a:rPr>
              <a:t>Net Income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475569"/>
                </a:solidFill>
                <a:latin typeface="Helvetica"/>
              </a:rPr>
              <a:t>Revenue minus operating expenses. Margin in the sub-label.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468880"/>
            <a:ext cx="260604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00000" bIns="100000"/>
          <a:lstStyle/>
          <a:p>
            <a:pPr algn="ctr"/>
            <a:r>
              <a:rPr b="1" sz="1400">
                <a:solidFill>
                  <a:srgbClr val="0F172A"/>
                </a:solidFill>
                <a:latin typeface="Helvetica"/>
              </a:rPr>
              <a:t>ADR / RevPAR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475569"/>
                </a:solidFill>
                <a:latin typeface="Helvetica"/>
              </a:rPr>
              <a:t>Average daily rate and revenue per available room — STR yield.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2468880"/>
            <a:ext cx="260604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00000" bIns="100000"/>
          <a:lstStyle/>
          <a:p>
            <a:pPr algn="ctr"/>
            <a:r>
              <a:rPr b="1" sz="1400">
                <a:solidFill>
                  <a:srgbClr val="0F172A"/>
                </a:solidFill>
                <a:latin typeface="Helvetica"/>
              </a:rPr>
              <a:t>Portfolio Occupancy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475569"/>
                </a:solidFill>
                <a:latin typeface="Helvetica"/>
              </a:rPr>
              <a:t>% of available room-nights actually sold this month.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Helvetica"/>
              </a:rPr>
              <a:t>BELOW THE CARDS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475569"/>
                </a:solidFill>
                <a:latin typeface="Helvetica"/>
              </a:rPr>
              <a:t>• Receipt uploader — drop a photo or scan; gets attached to an expense (printed/handwritten flag in P8).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475569"/>
                </a:solidFill>
                <a:latin typeface="Helvetica"/>
              </a:rPr>
              <a:t>• Revenue Trend bar chart — gross revenue and net income side by side for recent months.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475569"/>
                </a:solidFill>
                <a:latin typeface="Helvetica"/>
              </a:rPr>
              <a:t>• Property Yield list — per-villa headline numbers, links into the Properties page.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521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Helvetica"/>
              </a:rPr>
              <a:t>HEADER BUTTONS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72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475569"/>
                </a:solidFill>
                <a:latin typeface="Helvetica"/>
              </a:rPr>
              <a:t>• Download Report — exports the ledger CSV for the period.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475569"/>
                </a:solidFill>
                <a:latin typeface="Helvetica"/>
              </a:rPr>
              <a:t>• + Create Entry — jumps to the Ledger to add a manual journal entry.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Helvetica"/>
              </a:rPr>
              <a:t>SCREEN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Helvetica"/>
              </a:rPr>
              <a:t>Properties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03320" y="960120"/>
            <a:ext cx="822960" cy="25603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166534"/>
                </a:solidFill>
                <a:latin typeface="Helvetica"/>
              </a:rPr>
              <a:t>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Helvetica"/>
              </a:rPr>
              <a:t>One card per villa, with the financial picture for that asset.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0312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00050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475569"/>
                          </a:solidFill>
                          <a:latin typeface="Helvetica"/>
                        </a:rPr>
                        <a:t>CARD ELEMENT</a:t>
                      </a:r>
                    </a:p>
                  </a:txBody>
                  <a:tcPr marL="100000" marR="100000" marT="60000" marB="6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475569"/>
                          </a:solidFill>
                          <a:latin typeface="Helvetica"/>
                        </a:rPr>
                        <a:t>WHAT IT TELLS YOU</a:t>
                      </a:r>
                    </a:p>
                  </a:txBody>
                  <a:tcPr marL="100000" marR="100000" marT="60000" marB="60000">
                    <a:solidFill>
                      <a:srgbClr val="F8FAF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Status pill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Active, paused, or in setup.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Total Revenue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Period-to-date gross income for that villa.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Net Yield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Revenue minus directly attributable cost.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ADR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Average daily rate over occupied nights.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RevPAR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Revenue per available room-night (includes vacant nights).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Occupancy bar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Visual % of nights sold vs available.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Details →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Drills into the per-property page (bookings, costs, manager).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486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Helvetica"/>
              </a:rPr>
              <a:t>TOP-RIGHT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Helvetica"/>
              </a:rPr>
              <a:t>Sync Properties — pulls the latest property list from Hostaway (channel manager) so BookLets stays aligned with live inventory.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263640"/>
            <a:ext cx="73152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6263640"/>
            <a:ext cx="10899648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20000" bIns="120000"/>
          <a:lstStyle/>
          <a:p>
            <a:pPr algn="ctr">
              <a:lnSpc>
                <a:spcPct val="125000"/>
              </a:lnSpc>
            </a:pPr>
            <a:r>
              <a:rPr sz="1100">
                <a:solidFill>
                  <a:srgbClr val="0F172A"/>
                </a:solidFill>
                <a:latin typeface="Helvetica"/>
              </a:rPr>
              <a:t>Currently the portfolio is one villa (Ko Lake). The grid layout supports any number; new villas can be added without code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Helvetica"/>
              </a:rPr>
              <a:t>SCREEN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Helvetica"/>
              </a:rPr>
              <a:t>Bookings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20440" y="960120"/>
            <a:ext cx="822960" cy="25603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166534"/>
                </a:solidFill>
                <a:latin typeface="Helvetica"/>
              </a:rPr>
              <a:t>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Helvetica"/>
              </a:rPr>
              <a:t>A single ordered table of every reservation, regardless of which channel it came through.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286000"/>
          <a:ext cx="10972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44137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475569"/>
                          </a:solidFill>
                          <a:latin typeface="Helvetica"/>
                        </a:rPr>
                        <a:t>COLUMN</a:t>
                      </a:r>
                    </a:p>
                  </a:txBody>
                  <a:tcPr marL="100000" marR="100000" marT="60000" marB="6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475569"/>
                          </a:solidFill>
                          <a:latin typeface="Helvetica"/>
                        </a:rPr>
                        <a:t>WHAT IT TELLS YOU</a:t>
                      </a:r>
                    </a:p>
                  </a:txBody>
                  <a:tcPr marL="100000" marR="100000" marT="60000" marB="60000">
                    <a:solidFill>
                      <a:srgbClr val="F8FAFC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ID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Hostaway booking reference, or BookLets' internal short ID if created manually.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Property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Which villa.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Channel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Booking.com, Airbnb, direct, etc.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Check In / Check Out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Stay dates. The check-out date determines which month the revenue is booked to.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Total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Gross reservation value, in the channel's billing currency.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Status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Helvetica"/>
                        </a:rPr>
                        <a:t>Coloured badge: Confirmed, Completed, Pending, Cancelled.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5577840"/>
            <a:ext cx="731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5577840"/>
            <a:ext cx="10899648" cy="8229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20000" bIns="120000"/>
          <a:lstStyle/>
          <a:p>
            <a:pPr algn="ctr">
              <a:lnSpc>
                <a:spcPct val="125000"/>
              </a:lnSpc>
            </a:pPr>
            <a:r>
              <a:rPr sz="1100">
                <a:solidFill>
                  <a:srgbClr val="0F172A"/>
                </a:solidFill>
                <a:latin typeface="Helvetica"/>
              </a:rPr>
              <a:t>Revenue recognition reminder — Status moves to Completed on check-out. Revenue is recognised at that point and falls into the check-out month, even if the stay started earlier.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Helvetica"/>
              </a:rPr>
              <a:t>SCREEN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Helvetica"/>
              </a:rPr>
              <a:t>General Ledger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960120"/>
            <a:ext cx="822960" cy="25603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166534"/>
                </a:solidFill>
                <a:latin typeface="Helvetica"/>
              </a:rPr>
              <a:t>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Helvetica"/>
              </a:rPr>
              <a:t>The double-entry journal. Every income and expense in BookLets shows up here, in chronological order, with full debit/credit detail.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46888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91885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475569"/>
                          </a:solidFill>
                          <a:latin typeface="Helvetica"/>
                        </a:rPr>
                        <a:t>COLUMN</a:t>
                      </a:r>
                    </a:p>
                  </a:txBody>
                  <a:tcPr marL="100000" marR="100000" marT="60000" marB="6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475569"/>
                          </a:solidFill>
                          <a:latin typeface="Helvetica"/>
                        </a:rPr>
                        <a:t>WHAT IT TELLS YOU</a:t>
                      </a:r>
                    </a:p>
                  </a:txBody>
                  <a:tcPr marL="100000" marR="100000" marT="60000" marB="60000">
                    <a:solidFill>
                      <a:srgbClr val="F8FAFC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Date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Transaction date (when it actually happened).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Reference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8-char ID linking every line of a single journal entry — they balance to zero.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Account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Chart-of-accounts line item, e.g. 4000 Rent Income or 6200 Electricity.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Memo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Description as entered by the bookkeeper or imported from the spreadsheet.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Debit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Green column. Increases assets and expenses; decreases income and liabilities.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Credit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Red column. Increases income and liabilities; decreases assets and expenses.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486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Helvetica"/>
              </a:rPr>
              <a:t>FILTERS &amp; EXPORT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475569"/>
                </a:solidFill>
                <a:latin typeface="Helvetica"/>
              </a:rPr>
              <a:t>• Period filter — dropdown auto-populated with every month that has activity, plus 'All Time'.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475569"/>
                </a:solidFill>
                <a:latin typeface="Helvetica"/>
              </a:rPr>
              <a:t>• Export CSV — produces a file ready to import into QuickBooks Online. Columns map cleanly to QBO's journal-entry import format.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Helvetica"/>
              </a:rPr>
              <a:t>SCREEN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Helvetica"/>
              </a:rPr>
              <a:t>Imports — Spreadsheet Uploader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78040" y="960120"/>
            <a:ext cx="822960" cy="256032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B45309"/>
                </a:solidFill>
                <a:latin typeface="Helvetica"/>
              </a:rPr>
              <a:t>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Helvetica"/>
              </a:rPr>
              <a:t>Where you upload the monthly Income &amp; Petty Cash Analysis workbook. Currently a read-only preview; posting to the ledger comes in the next phase (P2).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Helvetica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475569"/>
                </a:solidFill>
                <a:latin typeface="Helvetica"/>
              </a:rPr>
              <a:t>1.  Drop the .xlsx for the month into the uploader. Limit 10 MB.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475569"/>
                </a:solidFill>
                <a:latin typeface="Helvetica"/>
              </a:rPr>
              <a:t>2.  BookLets parses every row, reads column headers, and matches each amount to a chart-of-accounts code.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475569"/>
                </a:solidFill>
                <a:latin typeface="Helvetica"/>
              </a:rPr>
              <a:t>3.  Preview appears below the form. Nothing is written to the ledger until the confirm-and-post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Helvetica"/>
              </a:rPr>
              <a:t>WHAT THE PREVIEW SHOWS YOU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4754880"/>
          <a:ext cx="10972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47472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475569"/>
                          </a:solidFill>
                          <a:latin typeface="Helvetica"/>
                        </a:rPr>
                        <a:t>SECTION</a:t>
                      </a:r>
                    </a:p>
                  </a:txBody>
                  <a:tcPr marL="100000" marR="100000" marT="60000" marB="6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475569"/>
                          </a:solidFill>
                          <a:latin typeface="Helvetica"/>
                        </a:rPr>
                        <a:t>CONTENT</a:t>
                      </a:r>
                    </a:p>
                  </a:txBody>
                  <a:tcPr marL="100000" marR="100000" marT="60000" marB="60000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Summary card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Period, total rows, net amount, file fingerprint.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Totals by account, per section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Mini-table per section: Prior-Month, Daily, Recurring, Accruals, Reversals, Prepayments.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Unmapped columns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Amber banner listing any header BookLets couldn't match to a chart account.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Per-section row tables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Every row with date, description, petty cash, postings, warnings.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Helvetica"/>
              </a:rPr>
              <a:t>SECTION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Helvetica"/>
              </a:rPr>
              <a:t>Chart of accounts &amp; policies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Helvetica"/>
              </a:rPr>
              <a:t>CHART OF ACCOUNTS (36 LINES)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74519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274320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475569"/>
                          </a:solidFill>
                          <a:latin typeface="Helvetica"/>
                        </a:rPr>
                        <a:t>RANGE</a:t>
                      </a:r>
                    </a:p>
                  </a:txBody>
                  <a:tcPr marL="100000" marR="100000" marT="60000" marB="6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475569"/>
                          </a:solidFill>
                          <a:latin typeface="Helvetica"/>
                        </a:rPr>
                        <a:t>TYPE</a:t>
                      </a:r>
                    </a:p>
                  </a:txBody>
                  <a:tcPr marL="100000" marR="100000" marT="60000" marB="6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475569"/>
                          </a:solidFill>
                          <a:latin typeface="Helvetica"/>
                        </a:rPr>
                        <a:t>EXAMPLES</a:t>
                      </a:r>
                    </a:p>
                  </a:txBody>
                  <a:tcPr marL="100000" marR="100000" marT="60000" marB="60000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1xxx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Assets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1010 Petty Cash, 1100 Bank — LKR Current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2xxx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Liabilities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2200 APIT Payable, 2210 EPF Payable, 2220 ETF Payable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4xxx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Revenue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4000 Rent, 4010 Cleaning Fee, 4020 Event, 4030 F&amp;B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5xxx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Cost of sales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5100 Food &amp; Beverage Expense, 5110 Refunds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6xxx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Operating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6100 Salaries, 6200 Electricity, 6300 Cleaning, 6600 Admin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7xxx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Capex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7100 Minor Capex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9999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Suspense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Used for unmapped amounts until the operator classifies them.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206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Helvetica"/>
              </a:rPr>
              <a:t>KEY ACCOUNTING POLICIES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4526280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35280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475569"/>
                          </a:solidFill>
                          <a:latin typeface="Helvetica"/>
                        </a:rPr>
                        <a:t>TOPIC</a:t>
                      </a:r>
                    </a:p>
                  </a:txBody>
                  <a:tcPr marL="100000" marR="100000" marT="60000" marB="6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475569"/>
                          </a:solidFill>
                          <a:latin typeface="Helvetica"/>
                        </a:rPr>
                        <a:t>POLICY</a:t>
                      </a:r>
                    </a:p>
                  </a:txBody>
                  <a:tcPr marL="100000" marR="100000" marT="60000" marB="60000"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Currency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Books in LKR. USD reporting via month-close FX rate (preferred: monthly average).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Revenue recognition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Entire stay revenue booked to the check-out month. No day-by-day apportionment.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Petty cash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Held by the villa captain. Top-ups against 1010. Items &gt; LKR 5,000 require a memo.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Payroll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Gross to 6100 Salaries; statutory 2200 APIT, 2210 EPF (8% emp + 12% emp'r), 2220 ETF (3% emp'r). Net to 6110.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Framework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>
                          <a:solidFill>
                            <a:srgbClr val="0F172A"/>
                          </a:solidFill>
                          <a:latin typeface="Helvetica"/>
                        </a:rPr>
                        <a:t>SLFRS (Sri Lanka Financial Reporting Standards). Swappable if portfolio expands overseas.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Helvetica"/>
              </a:rPr>
              <a:t>SECTION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Helvetica"/>
              </a:rPr>
              <a:t>Roadmap — what's coming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Helvetica"/>
              </a:rPr>
              <a:t>In rough priority order. Everything below P1 is designed; nothing else is in production yet.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8600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32509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475569"/>
                          </a:solidFill>
                          <a:latin typeface="Helvetica"/>
                        </a:rPr>
                        <a:t>PHASE</a:t>
                      </a:r>
                    </a:p>
                  </a:txBody>
                  <a:tcPr marL="100000" marR="100000" marT="60000" marB="6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475569"/>
                          </a:solidFill>
                          <a:latin typeface="Helvetica"/>
                        </a:rPr>
                        <a:t>FEATURE</a:t>
                      </a:r>
                    </a:p>
                  </a:txBody>
                  <a:tcPr marL="100000" marR="100000" marT="60000" marB="6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475569"/>
                          </a:solidFill>
                          <a:latin typeface="Helvetica"/>
                        </a:rPr>
                        <a:t>STATUS</a:t>
                      </a:r>
                    </a:p>
                  </a:txBody>
                  <a:tcPr marL="100000" marR="100000" marT="60000" marB="60000">
                    <a:solidFill>
                      <a:srgbClr val="F8FAFC"/>
                    </a:solidFill>
                  </a:tcPr>
                </a:tc>
              </a:tr>
              <a:tr h="332509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P0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Chart of accounts — 36 lines drafted from the operator's workbook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Live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P1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Spreadsheet parser + read-only preview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Preview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P2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Confirm-and-post — writes balanced journal entries; idempotent on re-upload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Planned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P3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Editable grid — fix typos and re-classify before posting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Planned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P4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Bank reconciliation — match ledger entries to cleared bank lines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Planned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P5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Month close — FX revaluation, accountant export pack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Planned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P6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STR dashboards — ADR, RevPAR, channel mix, seasonality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Planned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P7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Capex tracker &amp; forecast editor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Planned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P8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Google Drive receipts pipeline — auto-OCR, P/H flag, Sinhala translation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Planned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  <a:tr h="33251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P9–11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AI chat dialog per screen — database-grounded, SLFRS-sourced for accounting Q&amp;A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F172A"/>
                          </a:solidFill>
                          <a:latin typeface="Helvetica"/>
                        </a:rPr>
                        <a:t>Planned</a:t>
                      </a:r>
                    </a:p>
                  </a:txBody>
                  <a:tcPr marL="100000" marR="100000" marT="60000" marB="6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6126480"/>
            <a:ext cx="73152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6126480"/>
            <a:ext cx="10899648" cy="5029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20000" bIns="120000"/>
          <a:lstStyle/>
          <a:p>
            <a:pPr algn="ctr">
              <a:lnSpc>
                <a:spcPct val="125000"/>
              </a:lnSpc>
            </a:pPr>
            <a:r>
              <a:rPr sz="1100">
                <a:solidFill>
                  <a:srgbClr val="0F172A"/>
                </a:solidFill>
                <a:latin typeface="Helvetica"/>
              </a:rPr>
              <a:t>Your input is welcomed. If anything looks wrong — a missing account, a policy you'd state differently, a column heading the parser should recognise — please flag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